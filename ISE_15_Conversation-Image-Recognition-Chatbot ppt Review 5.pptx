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69" r:id="rId3"/>
    <p:sldId id="271" r:id="rId4"/>
    <p:sldId id="272" r:id="rId5"/>
    <p:sldId id="274" r:id="rId6"/>
    <p:sldId id="277" r:id="rId7"/>
    <p:sldId id="270" r:id="rId8"/>
    <p:sldId id="268" r:id="rId9"/>
    <p:sldId id="265" r:id="rId10"/>
    <p:sldId id="266"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81" d="100"/>
          <a:sy n="81" d="100"/>
        </p:scale>
        <p:origin x="744" y="53"/>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kkeerthireddy777/Conversational-Image-Recognition-Chatbo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PROJECT TITLE: Conversational Image Recognition Chatbot</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ISE_15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GB" sz="1700" b="1" dirty="0">
                <a:solidFill>
                  <a:srgbClr val="17365D"/>
                </a:solidFill>
                <a:latin typeface="Cambria" panose="02040503050406030204" pitchFamily="18" charset="0"/>
                <a:ea typeface="Cambria" panose="02040503050406030204" pitchFamily="18" charset="0"/>
                <a:cs typeface="Verdana"/>
                <a:sym typeface="Verdana"/>
              </a:rPr>
              <a:t>Jai Kumar B</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356706782"/>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latin typeface="Cambria" panose="02040503050406030204" pitchFamily="18" charset="0"/>
                          <a:ea typeface="Cambria" panose="02040503050406030204" pitchFamily="18" charset="0"/>
                          <a:cs typeface="Arial" panose="020B0604020202020204" pitchFamily="34" charset="0"/>
                        </a:rPr>
                        <a:t>20221ISE0046</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K KEERTHI</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20221ISE0085</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ADITI N</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20221ISE0055</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RAVI RAJ P MATH</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Review-5</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Information Science and Engineering</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Zafar Ali Khan N</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 Ms. Suma N G</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5000" lnSpcReduction="1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Bharat Electronics Limited (BEL)</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a:t>
            </a:r>
            <a:r>
              <a:rPr lang="en-US" dirty="0">
                <a:latin typeface="Cambria" panose="02040503050406030204" pitchFamily="18" charset="0"/>
                <a:ea typeface="Cambria" panose="02040503050406030204" pitchFamily="18" charset="0"/>
              </a:rPr>
              <a:t>(Hardware / Software / Both):  Software</a:t>
            </a:r>
          </a:p>
          <a:p>
            <a:pPr marL="342900" indent="-190500">
              <a:lnSpc>
                <a:spcPct val="200000"/>
              </a:lnSpc>
              <a:spcBef>
                <a:spcPts val="0"/>
              </a:spcBef>
              <a:buNone/>
            </a:pPr>
            <a:r>
              <a:rPr lang="en-US" b="1" dirty="0">
                <a:latin typeface="Cambria" panose="02040503050406030204" pitchFamily="18" charset="0"/>
                <a:ea typeface="Cambria" panose="02040503050406030204" pitchFamily="18" charset="0"/>
              </a:rPr>
              <a:t>Problem Description:  </a:t>
            </a:r>
            <a:r>
              <a:rPr lang="en-US" sz="1900" dirty="0">
                <a:latin typeface="Cambria" panose="02040503050406030204" pitchFamily="18" charset="0"/>
                <a:ea typeface="Cambria" panose="02040503050406030204" pitchFamily="18" charset="0"/>
              </a:rPr>
              <a:t>Ever since the advent of AI and computer vision, modeling conversations has remained a challenge—especially when combining </a:t>
            </a:r>
            <a:r>
              <a:rPr lang="en-US" sz="1900" b="1" dirty="0">
                <a:latin typeface="Cambria" panose="02040503050406030204" pitchFamily="18" charset="0"/>
                <a:ea typeface="Cambria" panose="02040503050406030204" pitchFamily="18" charset="0"/>
              </a:rPr>
              <a:t>natural language processing (NLP)</a:t>
            </a:r>
            <a:r>
              <a:rPr lang="en-US" sz="1900" dirty="0">
                <a:latin typeface="Cambria" panose="02040503050406030204" pitchFamily="18" charset="0"/>
                <a:ea typeface="Cambria" panose="02040503050406030204" pitchFamily="18" charset="0"/>
              </a:rPr>
              <a:t> and </a:t>
            </a:r>
            <a:r>
              <a:rPr lang="en-US" sz="1900" b="1" dirty="0">
                <a:latin typeface="Cambria" panose="02040503050406030204" pitchFamily="18" charset="0"/>
                <a:ea typeface="Cambria" panose="02040503050406030204" pitchFamily="18" charset="0"/>
              </a:rPr>
              <a:t>image recognition</a:t>
            </a:r>
            <a:r>
              <a:rPr lang="en-US" sz="1900" dirty="0">
                <a:latin typeface="Cambria" panose="02040503050406030204" pitchFamily="18" charset="0"/>
                <a:ea typeface="Cambria" panose="02040503050406030204" pitchFamily="18" charset="0"/>
              </a:rPr>
              <a:t>. While popular chatbots like Apple’s Siri, Google Assistant, and Microsoft’s Cortana excel at language-based interactions, they lack advanced visual understanding.</a:t>
            </a:r>
            <a:br>
              <a:rPr lang="en-US" sz="1900" dirty="0">
                <a:latin typeface="Cambria" panose="02040503050406030204" pitchFamily="18" charset="0"/>
                <a:ea typeface="Cambria" panose="02040503050406030204" pitchFamily="18" charset="0"/>
              </a:rPr>
            </a:br>
            <a:r>
              <a:rPr lang="en-US" sz="1900" dirty="0">
                <a:latin typeface="Cambria" panose="02040503050406030204" pitchFamily="18" charset="0"/>
                <a:ea typeface="Cambria" panose="02040503050406030204" pitchFamily="18" charset="0"/>
              </a:rPr>
              <a:t>This project focuses on developing a </a:t>
            </a:r>
            <a:r>
              <a:rPr lang="en-US" sz="1900" b="1" dirty="0">
                <a:latin typeface="Cambria" panose="02040503050406030204" pitchFamily="18" charset="0"/>
                <a:ea typeface="Cambria" panose="02040503050406030204" pitchFamily="18" charset="0"/>
              </a:rPr>
              <a:t>deep learning–based conversational chatbot</a:t>
            </a:r>
            <a:r>
              <a:rPr lang="en-US" sz="1900" dirty="0">
                <a:latin typeface="Cambria" panose="02040503050406030204" pitchFamily="18" charset="0"/>
                <a:ea typeface="Cambria" panose="02040503050406030204" pitchFamily="18" charset="0"/>
              </a:rPr>
              <a:t> capable of recognizing objects in images uploaded by users and engaging in relevant, context-aware dialogue about them. The chatbot will not only detect objects but also answer questions regarding the image with grammatically correct and lexically precise responses, enhancing user experience in areas such as automation, accessibility, and interactive learning.</a:t>
            </a: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2EE152C-4E3F-F424-4EAF-1566DE43C737}"/>
              </a:ext>
            </a:extLst>
          </p:cNvPr>
          <p:cNvSpPr>
            <a:spLocks noGrp="1"/>
          </p:cNvSpPr>
          <p:nvPr>
            <p:ph type="body" idx="1"/>
          </p:nvPr>
        </p:nvSpPr>
        <p:spPr>
          <a:xfrm>
            <a:off x="812799" y="1143001"/>
            <a:ext cx="10753889" cy="4953000"/>
          </a:xfrm>
        </p:spPr>
        <p:txBody>
          <a:bodyPr/>
          <a:lstStyle/>
          <a:p>
            <a:r>
              <a:rPr lang="en-US" sz="2000" b="1" dirty="0"/>
              <a:t>Problem Statement:</a:t>
            </a:r>
            <a:br>
              <a:rPr lang="en-US" dirty="0"/>
            </a:br>
            <a:r>
              <a:rPr lang="en-US" sz="2000" dirty="0"/>
              <a:t>Existing chatbots process only text or speech and cannot interpret visual information. This limits their ability to handle real-world, image-based queries.</a:t>
            </a:r>
          </a:p>
          <a:p>
            <a:endParaRPr lang="en-US" sz="2000" dirty="0"/>
          </a:p>
          <a:p>
            <a:r>
              <a:rPr lang="en-US" sz="2000" b="1" dirty="0"/>
              <a:t>Objective:</a:t>
            </a:r>
            <a:br>
              <a:rPr lang="en-US" dirty="0"/>
            </a:br>
            <a:r>
              <a:rPr lang="en-US" sz="2000" dirty="0"/>
              <a:t>To design and implement a multimodal AI chatbot that detects objects, generates image captions, and provides conversational responses using YOLOv8, BLIP-2, and LLaMA-3.</a:t>
            </a:r>
          </a:p>
          <a:p>
            <a:endParaRPr lang="en-IN" dirty="0"/>
          </a:p>
        </p:txBody>
      </p:sp>
      <p:sp>
        <p:nvSpPr>
          <p:cNvPr id="5" name="Title 4">
            <a:extLst>
              <a:ext uri="{FF2B5EF4-FFF2-40B4-BE49-F238E27FC236}">
                <a16:creationId xmlns:a16="http://schemas.microsoft.com/office/drawing/2014/main" id="{F1AA9901-F686-98F3-3BC6-DFD78221BE46}"/>
              </a:ext>
            </a:extLst>
          </p:cNvPr>
          <p:cNvSpPr>
            <a:spLocks noGrp="1"/>
          </p:cNvSpPr>
          <p:nvPr>
            <p:ph type="title"/>
          </p:nvPr>
        </p:nvSpPr>
        <p:spPr/>
        <p:txBody>
          <a:bodyPr/>
          <a:lstStyle/>
          <a:p>
            <a:r>
              <a:rPr lang="en-US" dirty="0"/>
              <a:t>Problem Statement &amp; Objective</a:t>
            </a:r>
            <a:endParaRPr lang="en-IN" dirty="0"/>
          </a:p>
        </p:txBody>
      </p:sp>
    </p:spTree>
    <p:extLst>
      <p:ext uri="{BB962C8B-B14F-4D97-AF65-F5344CB8AC3E}">
        <p14:creationId xmlns:p14="http://schemas.microsoft.com/office/powerpoint/2010/main" val="3142203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7FE23-F4B0-9821-C4FB-B4B356585115}"/>
              </a:ext>
            </a:extLst>
          </p:cNvPr>
          <p:cNvSpPr>
            <a:spLocks noGrp="1"/>
          </p:cNvSpPr>
          <p:nvPr>
            <p:ph type="title"/>
          </p:nvPr>
        </p:nvSpPr>
        <p:spPr>
          <a:xfrm>
            <a:off x="762000" y="518249"/>
            <a:ext cx="10668000" cy="487500"/>
          </a:xfrm>
        </p:spPr>
        <p:txBody>
          <a:bodyPr/>
          <a:lstStyle/>
          <a:p>
            <a:r>
              <a:rPr lang="en-IN" dirty="0"/>
              <a:t>System Architecture</a:t>
            </a:r>
            <a:br>
              <a:rPr lang="en-IN" dirty="0"/>
            </a:br>
            <a:endParaRPr lang="en-IN" dirty="0"/>
          </a:p>
        </p:txBody>
      </p:sp>
      <p:sp>
        <p:nvSpPr>
          <p:cNvPr id="3" name="Text Placeholder 2">
            <a:extLst>
              <a:ext uri="{FF2B5EF4-FFF2-40B4-BE49-F238E27FC236}">
                <a16:creationId xmlns:a16="http://schemas.microsoft.com/office/drawing/2014/main" id="{61CEECE0-4CB2-0970-B1B7-8088C7B889D1}"/>
              </a:ext>
            </a:extLst>
          </p:cNvPr>
          <p:cNvSpPr>
            <a:spLocks noGrp="1"/>
          </p:cNvSpPr>
          <p:nvPr>
            <p:ph type="body" idx="1"/>
          </p:nvPr>
        </p:nvSpPr>
        <p:spPr>
          <a:xfrm>
            <a:off x="812800" y="1143001"/>
            <a:ext cx="10430588" cy="4884575"/>
          </a:xfrm>
        </p:spPr>
        <p:txBody>
          <a:bodyPr/>
          <a:lstStyle/>
          <a:p>
            <a:pPr marL="76200" indent="0">
              <a:buNone/>
            </a:pPr>
            <a:endParaRPr lang="en-IN" dirty="0"/>
          </a:p>
          <a:p>
            <a:pPr marL="76200" indent="0">
              <a:buNone/>
            </a:pPr>
            <a:endParaRPr lang="en-US" dirty="0"/>
          </a:p>
          <a:p>
            <a:endParaRPr lang="en-US" sz="1600" dirty="0"/>
          </a:p>
          <a:p>
            <a:pPr marL="76200" indent="0">
              <a:buNone/>
            </a:pPr>
            <a:endParaRPr lang="en-IN" sz="1200" dirty="0"/>
          </a:p>
          <a:p>
            <a:pPr marL="76200" indent="0">
              <a:buNone/>
            </a:pPr>
            <a:endParaRPr lang="en-IN" sz="1200" dirty="0"/>
          </a:p>
        </p:txBody>
      </p:sp>
      <p:sp>
        <p:nvSpPr>
          <p:cNvPr id="5" name="Rectangle 4"/>
          <p:cNvSpPr/>
          <p:nvPr/>
        </p:nvSpPr>
        <p:spPr>
          <a:xfrm>
            <a:off x="8116479" y="1039221"/>
            <a:ext cx="3487918" cy="4616648"/>
          </a:xfrm>
          <a:prstGeom prst="rect">
            <a:avLst/>
          </a:prstGeom>
        </p:spPr>
        <p:txBody>
          <a:bodyPr wrap="square">
            <a:spAutoFit/>
          </a:bodyPr>
          <a:lstStyle/>
          <a:p>
            <a:endParaRPr lang="en-IN" b="1" dirty="0"/>
          </a:p>
          <a:p>
            <a:endParaRPr lang="en-IN" b="1" dirty="0"/>
          </a:p>
          <a:p>
            <a:r>
              <a:rPr lang="en-US" b="1" dirty="0"/>
              <a:t>Architecture Description:</a:t>
            </a:r>
          </a:p>
          <a:p>
            <a:endParaRPr lang="en-US" b="1" dirty="0"/>
          </a:p>
          <a:p>
            <a:pPr marL="285750" indent="-285750">
              <a:buFont typeface="Arial" panose="020B0604020202020204" pitchFamily="34" charset="0"/>
              <a:buChar char="•"/>
            </a:pPr>
            <a:r>
              <a:rPr lang="en-US" b="1" dirty="0"/>
              <a:t>YOLOv8:</a:t>
            </a:r>
            <a:r>
              <a:rPr lang="en-US" dirty="0"/>
              <a:t> Detects and labels objects in the uploaded image using bounding boxes.</a:t>
            </a:r>
          </a:p>
          <a:p>
            <a:pPr marL="285750" indent="-285750">
              <a:buFont typeface="Arial" panose="020B0604020202020204" pitchFamily="34" charset="0"/>
              <a:buChar char="•"/>
            </a:pPr>
            <a:r>
              <a:rPr lang="en-US" b="1" dirty="0"/>
              <a:t>BLIP-2:</a:t>
            </a:r>
            <a:r>
              <a:rPr lang="en-US" dirty="0"/>
              <a:t> Generates image captions and answers visual questions for deeper understanding.</a:t>
            </a:r>
          </a:p>
          <a:p>
            <a:pPr marL="285750" indent="-285750">
              <a:buFont typeface="Arial" panose="020B0604020202020204" pitchFamily="34" charset="0"/>
              <a:buChar char="•"/>
            </a:pPr>
            <a:r>
              <a:rPr lang="en-US" b="1" dirty="0"/>
              <a:t>LLaMA-3:</a:t>
            </a:r>
            <a:r>
              <a:rPr lang="en-US" dirty="0"/>
              <a:t> Provides context-aware conversational responses based on image insights.</a:t>
            </a:r>
          </a:p>
          <a:p>
            <a:pPr marL="285750" indent="-285750">
              <a:buFont typeface="Arial" panose="020B0604020202020204" pitchFamily="34" charset="0"/>
              <a:buChar char="•"/>
            </a:pPr>
            <a:r>
              <a:rPr lang="en-US" b="1" dirty="0" err="1"/>
              <a:t>Gradio</a:t>
            </a:r>
            <a:r>
              <a:rPr lang="en-US" b="1" dirty="0"/>
              <a:t>:</a:t>
            </a:r>
            <a:r>
              <a:rPr lang="en-US" dirty="0"/>
              <a:t> Enables users to upload images, ask questions, and view results interactively.</a:t>
            </a:r>
          </a:p>
          <a:p>
            <a:pPr marL="285750" indent="-285750">
              <a:buFont typeface="Arial" panose="020B0604020202020204" pitchFamily="34" charset="0"/>
              <a:buChar char="•"/>
            </a:pPr>
            <a:r>
              <a:rPr lang="en-US" b="1" dirty="0"/>
              <a:t>Output:</a:t>
            </a:r>
            <a:r>
              <a:rPr lang="en-US" dirty="0"/>
              <a:t> Produces annotated images and natural text responses for multimodal interaction.</a:t>
            </a:r>
          </a:p>
          <a:p>
            <a:endParaRPr lang="en-IN" dirty="0"/>
          </a:p>
          <a:p>
            <a:endParaRPr lang="en-US" dirty="0"/>
          </a:p>
        </p:txBody>
      </p:sp>
      <p:pic>
        <p:nvPicPr>
          <p:cNvPr id="6" name="Picture 5">
            <a:extLst>
              <a:ext uri="{FF2B5EF4-FFF2-40B4-BE49-F238E27FC236}">
                <a16:creationId xmlns:a16="http://schemas.microsoft.com/office/drawing/2014/main" id="{0566630F-DF82-A766-4614-8B27A361EE86}"/>
              </a:ext>
            </a:extLst>
          </p:cNvPr>
          <p:cNvPicPr>
            <a:picLocks noChangeAspect="1"/>
          </p:cNvPicPr>
          <p:nvPr/>
        </p:nvPicPr>
        <p:blipFill>
          <a:blip r:embed="rId2"/>
          <a:stretch>
            <a:fillRect/>
          </a:stretch>
        </p:blipFill>
        <p:spPr>
          <a:xfrm>
            <a:off x="812800" y="1005749"/>
            <a:ext cx="6974367" cy="4647762"/>
          </a:xfrm>
          <a:prstGeom prst="rect">
            <a:avLst/>
          </a:prstGeom>
        </p:spPr>
      </p:pic>
    </p:spTree>
    <p:extLst>
      <p:ext uri="{BB962C8B-B14F-4D97-AF65-F5344CB8AC3E}">
        <p14:creationId xmlns:p14="http://schemas.microsoft.com/office/powerpoint/2010/main" val="1979718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C9148-A848-DEEB-DB9D-8FE79529283B}"/>
              </a:ext>
            </a:extLst>
          </p:cNvPr>
          <p:cNvSpPr>
            <a:spLocks noGrp="1"/>
          </p:cNvSpPr>
          <p:nvPr>
            <p:ph type="title"/>
          </p:nvPr>
        </p:nvSpPr>
        <p:spPr/>
        <p:txBody>
          <a:bodyPr/>
          <a:lstStyle/>
          <a:p>
            <a:r>
              <a:rPr lang="en-IN" dirty="0"/>
              <a:t>System Workflow</a:t>
            </a:r>
          </a:p>
        </p:txBody>
      </p:sp>
      <p:sp>
        <p:nvSpPr>
          <p:cNvPr id="3" name="Text Placeholder 2">
            <a:extLst>
              <a:ext uri="{FF2B5EF4-FFF2-40B4-BE49-F238E27FC236}">
                <a16:creationId xmlns:a16="http://schemas.microsoft.com/office/drawing/2014/main" id="{C79249FF-771E-5067-F5E2-5DAF5A622AFF}"/>
              </a:ext>
            </a:extLst>
          </p:cNvPr>
          <p:cNvSpPr>
            <a:spLocks noGrp="1"/>
          </p:cNvSpPr>
          <p:nvPr>
            <p:ph type="body" idx="1"/>
          </p:nvPr>
        </p:nvSpPr>
        <p:spPr>
          <a:xfrm>
            <a:off x="5165557" y="962524"/>
            <a:ext cx="5855369" cy="5133475"/>
          </a:xfrm>
        </p:spPr>
        <p:txBody>
          <a:bodyPr>
            <a:normAutofit fontScale="92500" lnSpcReduction="10000"/>
          </a:bodyPr>
          <a:lstStyle/>
          <a:p>
            <a:pPr marL="76200" indent="0">
              <a:buNone/>
            </a:pPr>
            <a:r>
              <a:rPr lang="en-IN" b="1" dirty="0"/>
              <a:t>1. Upload image via </a:t>
            </a:r>
            <a:r>
              <a:rPr lang="en-IN" b="1" dirty="0" err="1"/>
              <a:t>Gradio</a:t>
            </a:r>
            <a:r>
              <a:rPr lang="en-IN" b="1" dirty="0"/>
              <a:t>:</a:t>
            </a:r>
            <a:r>
              <a:rPr lang="en-IN" dirty="0"/>
              <a:t> User uploads an image or asks a visual query through the </a:t>
            </a:r>
            <a:r>
              <a:rPr lang="en-IN" dirty="0" err="1"/>
              <a:t>Gradio</a:t>
            </a:r>
            <a:r>
              <a:rPr lang="en-IN" dirty="0"/>
              <a:t> interface.</a:t>
            </a:r>
            <a:br>
              <a:rPr lang="en-IN" dirty="0"/>
            </a:br>
            <a:r>
              <a:rPr lang="en-IN" b="1" dirty="0"/>
              <a:t>2. YOLOv8:</a:t>
            </a:r>
            <a:r>
              <a:rPr lang="en-IN" dirty="0"/>
              <a:t> Detects and labels multiple objects in the image using bounding boxes.</a:t>
            </a:r>
            <a:br>
              <a:rPr lang="en-IN" dirty="0"/>
            </a:br>
            <a:r>
              <a:rPr lang="en-IN" b="1" dirty="0"/>
              <a:t>3. BLIP-2:</a:t>
            </a:r>
            <a:r>
              <a:rPr lang="en-IN" dirty="0"/>
              <a:t> Generates image captions and answers user-specific visual questions.</a:t>
            </a:r>
            <a:br>
              <a:rPr lang="en-IN" dirty="0"/>
            </a:br>
            <a:r>
              <a:rPr lang="en-IN" b="1" dirty="0"/>
              <a:t>4. LLaMA-3:</a:t>
            </a:r>
            <a:r>
              <a:rPr lang="en-IN" dirty="0"/>
              <a:t> Produces natural, context-aware conversational responses based on image understanding.</a:t>
            </a:r>
            <a:br>
              <a:rPr lang="en-IN" dirty="0"/>
            </a:br>
            <a:r>
              <a:rPr lang="en-IN" b="1" dirty="0"/>
              <a:t>5. Output:</a:t>
            </a:r>
            <a:r>
              <a:rPr lang="en-IN" dirty="0"/>
              <a:t> Annotated image and text-based chatbot response are displayed interactively via </a:t>
            </a:r>
            <a:r>
              <a:rPr lang="en-IN" dirty="0" err="1"/>
              <a:t>Gradio</a:t>
            </a:r>
            <a:r>
              <a:rPr lang="en-IN" dirty="0"/>
              <a:t>.</a:t>
            </a:r>
          </a:p>
        </p:txBody>
      </p:sp>
      <p:pic>
        <p:nvPicPr>
          <p:cNvPr id="6" name="Picture 5">
            <a:extLst>
              <a:ext uri="{FF2B5EF4-FFF2-40B4-BE49-F238E27FC236}">
                <a16:creationId xmlns:a16="http://schemas.microsoft.com/office/drawing/2014/main" id="{7BF75CDA-0B8C-3D02-F7DA-B3BF5473B8D5}"/>
              </a:ext>
            </a:extLst>
          </p:cNvPr>
          <p:cNvPicPr>
            <a:picLocks noChangeAspect="1"/>
          </p:cNvPicPr>
          <p:nvPr/>
        </p:nvPicPr>
        <p:blipFill>
          <a:blip r:embed="rId2"/>
          <a:stretch>
            <a:fillRect/>
          </a:stretch>
        </p:blipFill>
        <p:spPr>
          <a:xfrm>
            <a:off x="1363579" y="1116931"/>
            <a:ext cx="3216442" cy="4824663"/>
          </a:xfrm>
          <a:prstGeom prst="rect">
            <a:avLst/>
          </a:prstGeom>
        </p:spPr>
      </p:pic>
    </p:spTree>
    <p:extLst>
      <p:ext uri="{BB962C8B-B14F-4D97-AF65-F5344CB8AC3E}">
        <p14:creationId xmlns:p14="http://schemas.microsoft.com/office/powerpoint/2010/main" val="2725495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3C01C-BB0E-3252-6502-553237B65BF3}"/>
              </a:ext>
            </a:extLst>
          </p:cNvPr>
          <p:cNvSpPr>
            <a:spLocks noGrp="1"/>
          </p:cNvSpPr>
          <p:nvPr>
            <p:ph type="title"/>
          </p:nvPr>
        </p:nvSpPr>
        <p:spPr/>
        <p:txBody>
          <a:bodyPr/>
          <a:lstStyle/>
          <a:p>
            <a:r>
              <a:rPr lang="en-IN" dirty="0"/>
              <a:t>Challenges </a:t>
            </a:r>
          </a:p>
        </p:txBody>
      </p:sp>
      <p:sp>
        <p:nvSpPr>
          <p:cNvPr id="3" name="Text Placeholder 2">
            <a:extLst>
              <a:ext uri="{FF2B5EF4-FFF2-40B4-BE49-F238E27FC236}">
                <a16:creationId xmlns:a16="http://schemas.microsoft.com/office/drawing/2014/main" id="{8A95030A-210B-F24C-07C3-D996F8D40EDB}"/>
              </a:ext>
            </a:extLst>
          </p:cNvPr>
          <p:cNvSpPr>
            <a:spLocks noGrp="1"/>
          </p:cNvSpPr>
          <p:nvPr>
            <p:ph type="body" idx="1"/>
          </p:nvPr>
        </p:nvSpPr>
        <p:spPr/>
        <p:txBody>
          <a:bodyPr/>
          <a:lstStyle/>
          <a:p>
            <a:pPr marL="76200" indent="0">
              <a:buNone/>
            </a:pPr>
            <a:r>
              <a:rPr lang="en-US" sz="2000" b="1" dirty="0"/>
              <a:t>Challenges Faced:</a:t>
            </a:r>
            <a:endParaRPr lang="en-US" sz="2000" dirty="0"/>
          </a:p>
          <a:p>
            <a:r>
              <a:rPr lang="en-US" sz="2000" dirty="0"/>
              <a:t>Managing GPU and API limitations during integration</a:t>
            </a:r>
          </a:p>
          <a:p>
            <a:r>
              <a:rPr lang="en-US" sz="2000" dirty="0"/>
              <a:t>Fine-tuning visual question answering</a:t>
            </a:r>
          </a:p>
          <a:p>
            <a:r>
              <a:rPr lang="en-US" sz="2000" dirty="0"/>
              <a:t>Maintaining multi-turn conversation consistency</a:t>
            </a:r>
          </a:p>
          <a:p>
            <a:endParaRPr lang="en-IN" dirty="0"/>
          </a:p>
        </p:txBody>
      </p:sp>
    </p:spTree>
    <p:extLst>
      <p:ext uri="{BB962C8B-B14F-4D97-AF65-F5344CB8AC3E}">
        <p14:creationId xmlns:p14="http://schemas.microsoft.com/office/powerpoint/2010/main" val="3349002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38473584-DDDA-AF8E-F33A-E5CA447FA17C}"/>
              </a:ext>
            </a:extLst>
          </p:cNvPr>
          <p:cNvPicPr>
            <a:picLocks noChangeAspect="1"/>
          </p:cNvPicPr>
          <p:nvPr/>
        </p:nvPicPr>
        <p:blipFill>
          <a:blip r:embed="rId3"/>
          <a:stretch>
            <a:fillRect/>
          </a:stretch>
        </p:blipFill>
        <p:spPr>
          <a:xfrm>
            <a:off x="608562" y="1083896"/>
            <a:ext cx="10872238" cy="4873762"/>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None/>
            </a:pPr>
            <a:r>
              <a:rPr lang="en-US" dirty="0">
                <a:latin typeface="Cambria" panose="02040503050406030204" pitchFamily="18" charset="0"/>
                <a:ea typeface="Cambria" panose="02040503050406030204" pitchFamily="18" charset="0"/>
                <a:hlinkClick r:id="rId3"/>
              </a:rPr>
              <a:t>Conversational-Image-Recognition-Chatbot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762000" y="762138"/>
            <a:ext cx="11002652" cy="5821224"/>
          </a:xfrm>
          <a:prstGeom prst="rect">
            <a:avLst/>
          </a:prstGeom>
          <a:noFill/>
          <a:ln>
            <a:noFill/>
          </a:ln>
        </p:spPr>
        <p:txBody>
          <a:bodyPr spcFirstLastPara="1" wrap="square" lIns="91425" tIns="45700" rIns="91425" bIns="45700" anchor="t" anchorCtr="0">
            <a:normAutofit/>
          </a:bodyPr>
          <a:lstStyle/>
          <a:p>
            <a:pPr marL="76200" indent="0">
              <a:buNone/>
            </a:pPr>
            <a:endParaRPr lang="en-IN" sz="1000" dirty="0">
              <a:latin typeface="Times New Roman" panose="02020603050405020304" pitchFamily="18" charset="0"/>
              <a:cs typeface="Times New Roman" panose="02020603050405020304" pitchFamily="18" charset="0"/>
            </a:endParaRPr>
          </a:p>
          <a:p>
            <a:pPr marL="76200" indent="0">
              <a:buNone/>
            </a:pPr>
            <a:endParaRPr lang="en-IN" sz="1000" dirty="0">
              <a:latin typeface="Times New Roman" panose="02020603050405020304" pitchFamily="18" charset="0"/>
              <a:ea typeface="Verdana" panose="020B0604030504040204" pitchFamily="34" charset="0"/>
              <a:cs typeface="Times New Roman" panose="02020603050405020304" pitchFamily="18" charset="0"/>
            </a:endParaRPr>
          </a:p>
          <a:p>
            <a:pPr marL="152400" indent="0">
              <a:spcBef>
                <a:spcPts val="0"/>
              </a:spcBef>
              <a:buNone/>
            </a:pPr>
            <a:endParaRPr lang="en-US" sz="10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lang="en-US" sz="10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sz="1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34" name="Rectangle 33"/>
          <p:cNvSpPr/>
          <p:nvPr/>
        </p:nvSpPr>
        <p:spPr>
          <a:xfrm>
            <a:off x="696685" y="789466"/>
            <a:ext cx="10784115" cy="5293757"/>
          </a:xfrm>
          <a:prstGeom prst="rect">
            <a:avLst/>
          </a:prstGeom>
        </p:spPr>
        <p:txBody>
          <a:bodyPr wrap="square">
            <a:spAutoFit/>
          </a:bodyPr>
          <a:lstStyle/>
          <a:p>
            <a:endParaRPr lang="en-US" dirty="0"/>
          </a:p>
          <a:p>
            <a:r>
              <a:rPr lang="en-IN" sz="1800" dirty="0"/>
              <a:t>[1]N. Arora, S. </a:t>
            </a:r>
            <a:r>
              <a:rPr lang="en-IN" sz="1800" dirty="0" err="1"/>
              <a:t>Talesara</a:t>
            </a:r>
            <a:r>
              <a:rPr lang="en-IN" sz="1800" dirty="0"/>
              <a:t>, S. Sharma, et al., "CONVERSATIONAL IMAGE RECOGNITION CHATBOT," </a:t>
            </a:r>
            <a:r>
              <a:rPr lang="en-IN" sz="1800" i="1" dirty="0"/>
              <a:t>Journal of Emerging Technologies and Innovative Research (JETIR)</a:t>
            </a:r>
            <a:r>
              <a:rPr lang="en-IN" sz="1800" dirty="0"/>
              <a:t>, 2025.</a:t>
            </a:r>
          </a:p>
          <a:p>
            <a:endParaRPr lang="en-IN" sz="1800" dirty="0"/>
          </a:p>
          <a:p>
            <a:r>
              <a:rPr lang="en-IN" sz="1800" dirty="0"/>
              <a:t>[2]N</a:t>
            </a:r>
            <a:r>
              <a:rPr lang="en-US" sz="1800" dirty="0"/>
              <a:t> R. </a:t>
            </a:r>
            <a:r>
              <a:rPr lang="en-US" sz="1800" dirty="0" err="1"/>
              <a:t>Kolte</a:t>
            </a:r>
            <a:r>
              <a:rPr lang="en-US" sz="1800" dirty="0"/>
              <a:t>, H. </a:t>
            </a:r>
            <a:r>
              <a:rPr lang="en-US" sz="1800" dirty="0" err="1"/>
              <a:t>Wanwe</a:t>
            </a:r>
            <a:r>
              <a:rPr lang="en-US" sz="1800" dirty="0"/>
              <a:t>, P. </a:t>
            </a:r>
            <a:r>
              <a:rPr lang="en-US" sz="1800" dirty="0" err="1"/>
              <a:t>Sathawane</a:t>
            </a:r>
            <a:r>
              <a:rPr lang="en-US" sz="1800" dirty="0"/>
              <a:t>, et al., "CONVERSATIONAL IMAGE RECOGNITION CHATBOT," </a:t>
            </a:r>
            <a:r>
              <a:rPr lang="en-US" sz="1800" i="1" dirty="0"/>
              <a:t>International Research Journal of Modernization in Engineering Technology and Science (IRJMETS)</a:t>
            </a:r>
            <a:r>
              <a:rPr lang="en-US" sz="1800" dirty="0"/>
              <a:t>, 2024</a:t>
            </a:r>
          </a:p>
          <a:p>
            <a:endParaRPr lang="en-US" sz="1800" dirty="0"/>
          </a:p>
          <a:p>
            <a:r>
              <a:rPr lang="en-IN" sz="1800" dirty="0"/>
              <a:t>[3]L. </a:t>
            </a:r>
            <a:r>
              <a:rPr lang="en-IN" sz="1800" dirty="0" err="1"/>
              <a:t>Kesa</a:t>
            </a:r>
            <a:r>
              <a:rPr lang="en-IN" sz="1800" dirty="0"/>
              <a:t>, S. </a:t>
            </a:r>
            <a:r>
              <a:rPr lang="en-IN" sz="1800" dirty="0" err="1"/>
              <a:t>Takur</a:t>
            </a:r>
            <a:r>
              <a:rPr lang="en-IN" sz="1800" dirty="0"/>
              <a:t>, K. </a:t>
            </a:r>
            <a:r>
              <a:rPr lang="en-IN" sz="1800" dirty="0" err="1"/>
              <a:t>Pasupuleti</a:t>
            </a:r>
            <a:r>
              <a:rPr lang="en-IN" sz="1800" dirty="0"/>
              <a:t>, et al., "</a:t>
            </a:r>
            <a:r>
              <a:rPr lang="en-IN" sz="1800" dirty="0" err="1"/>
              <a:t>Chatbot</a:t>
            </a:r>
            <a:r>
              <a:rPr lang="en-IN" sz="1800" dirty="0"/>
              <a:t> with Facemask Detection Technique," </a:t>
            </a:r>
            <a:r>
              <a:rPr lang="en-IN" sz="1800" i="1" dirty="0"/>
              <a:t>International Journal For Research in Applied Science and Engineering Technology (IJRASET)</a:t>
            </a:r>
            <a:r>
              <a:rPr lang="en-IN" sz="1800" dirty="0"/>
              <a:t>, 2021.</a:t>
            </a:r>
          </a:p>
          <a:p>
            <a:endParaRPr lang="en-IN" sz="1800" dirty="0"/>
          </a:p>
          <a:p>
            <a:r>
              <a:rPr lang="en-US" sz="1800" dirty="0"/>
              <a:t>[4]H. Li, Y. Lu, and H. Zhu, "Multi-Modal Sentiment Analysis Based on Image and Text Fusion Based on Cross-Attention Mechanism," </a:t>
            </a:r>
            <a:r>
              <a:rPr lang="en-US" sz="1800" i="1" dirty="0"/>
              <a:t>Electronics</a:t>
            </a:r>
            <a:r>
              <a:rPr lang="en-US" sz="1800" dirty="0"/>
              <a:t>, 2024.</a:t>
            </a:r>
          </a:p>
          <a:p>
            <a:endParaRPr lang="en-US" sz="1800" dirty="0"/>
          </a:p>
          <a:p>
            <a:r>
              <a:rPr lang="en-US" sz="1800" dirty="0"/>
              <a:t>[5]D. </a:t>
            </a:r>
            <a:r>
              <a:rPr lang="en-US" sz="1800" dirty="0" err="1"/>
              <a:t>Prannav</a:t>
            </a:r>
            <a:r>
              <a:rPr lang="en-US" sz="1800" dirty="0"/>
              <a:t>, A. Anwar, S. </a:t>
            </a:r>
            <a:r>
              <a:rPr lang="en-US" sz="1800" dirty="0" err="1"/>
              <a:t>Sunayana</a:t>
            </a:r>
            <a:r>
              <a:rPr lang="en-US" sz="1800" dirty="0"/>
              <a:t>, et al., "Image Caption Generation Using Deep Learning," </a:t>
            </a:r>
            <a:r>
              <a:rPr lang="en-US" sz="1800" i="1" dirty="0"/>
              <a:t>Journal of Information Systems Engineering and Management</a:t>
            </a:r>
            <a:r>
              <a:rPr lang="en-US" sz="1800" dirty="0"/>
              <a:t>, 2025.</a:t>
            </a:r>
          </a:p>
          <a:p>
            <a:endParaRPr lang="en-US" sz="1800" dirty="0"/>
          </a:p>
          <a:p>
            <a:r>
              <a:rPr lang="en-IN" sz="1800" dirty="0"/>
              <a:t>[6]H. Chordia, R. </a:t>
            </a:r>
            <a:r>
              <a:rPr lang="en-IN" sz="1800" dirty="0" err="1"/>
              <a:t>Saxena</a:t>
            </a:r>
            <a:r>
              <a:rPr lang="en-IN" sz="1800" dirty="0"/>
              <a:t>, and G. </a:t>
            </a:r>
            <a:r>
              <a:rPr lang="en-IN" sz="1800" dirty="0" err="1"/>
              <a:t>Lavania</a:t>
            </a:r>
            <a:r>
              <a:rPr lang="en-IN" sz="1800" dirty="0"/>
              <a:t>, "Conversational Image Recognition </a:t>
            </a:r>
            <a:r>
              <a:rPr lang="en-IN" sz="1800" dirty="0" err="1"/>
              <a:t>Chatbot</a:t>
            </a:r>
            <a:r>
              <a:rPr lang="en-IN" sz="1800" dirty="0"/>
              <a:t>," </a:t>
            </a:r>
            <a:r>
              <a:rPr lang="en-IN" sz="1800" i="1" dirty="0" err="1"/>
              <a:t>Pratibodh</a:t>
            </a:r>
            <a:r>
              <a:rPr lang="en-IN" sz="1800" i="1" dirty="0"/>
              <a:t> - A Journal for Engineering</a:t>
            </a:r>
            <a:r>
              <a:rPr lang="en-IN" sz="1800" dirty="0"/>
              <a:t>, 2025.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3747</TotalTime>
  <Words>736</Words>
  <Application>Microsoft Office PowerPoint</Application>
  <PresentationFormat>Widescreen</PresentationFormat>
  <Paragraphs>79</Paragraphs>
  <Slides>10</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Cambria</vt:lpstr>
      <vt:lpstr>Times New Roman</vt:lpstr>
      <vt:lpstr>Verdana</vt:lpstr>
      <vt:lpstr>Bioinformatics</vt:lpstr>
      <vt:lpstr>PROJECT TITLE: Conversational Image Recognition Chatbot</vt:lpstr>
      <vt:lpstr>Problem Statement Number: </vt:lpstr>
      <vt:lpstr>Problem Statement &amp; Objective</vt:lpstr>
      <vt:lpstr>System Architecture </vt:lpstr>
      <vt:lpstr>System Workflow</vt:lpstr>
      <vt:lpstr>Challenges </vt:lpstr>
      <vt:lpstr>Timeline of the Project (Gantt Chart)</vt:lpstr>
      <vt:lpstr>Github Link</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Keerthi K</cp:lastModifiedBy>
  <cp:revision>58</cp:revision>
  <dcterms:modified xsi:type="dcterms:W3CDTF">2025-12-03T06:56:16Z</dcterms:modified>
</cp:coreProperties>
</file>